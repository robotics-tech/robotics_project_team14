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tinger Wide Bold" charset="1" panose="00000800000000000000"/>
      <p:regular r:id="rId21"/>
    </p:embeddedFont>
    <p:embeddedFont>
      <p:font typeface="Codec Pro Bold" charset="1" panose="00000600000000000000"/>
      <p:regular r:id="rId22"/>
    </p:embeddedFont>
    <p:embeddedFont>
      <p:font typeface="Codec Pro" charset="1" panose="00000500000000000000"/>
      <p:regular r:id="rId23"/>
    </p:embeddedFont>
    <p:embeddedFont>
      <p:font typeface="Stinger Wide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4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0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366716"/>
            <a:ext cx="16230600" cy="316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3"/>
              </a:lnSpc>
            </a:pPr>
            <a:r>
              <a:rPr lang="en-US" sz="12467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EDPT1009</a:t>
            </a:r>
          </a:p>
          <a:p>
            <a:pPr algn="ctr">
              <a:lnSpc>
                <a:spcPts val="12093"/>
              </a:lnSpc>
            </a:pPr>
            <a:r>
              <a:rPr lang="en-US" sz="12467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ROBOTICS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71653">
            <a:off x="6899607" y="-3050983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785" y="8078812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29301" y="6630656"/>
            <a:ext cx="8829398" cy="11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b="true" sz="6150" spc="6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9082" y="2573998"/>
            <a:ext cx="11724404" cy="628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Nada Ehab</a:t>
            </a:r>
          </a:p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Ibrahim Amr</a:t>
            </a:r>
          </a:p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Martin Morcos</a:t>
            </a:r>
          </a:p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Abdelrahman Khaled</a:t>
            </a:r>
          </a:p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Mohamed Osama</a:t>
            </a:r>
          </a:p>
          <a:p>
            <a:pPr algn="ctr">
              <a:lnSpc>
                <a:spcPts val="8214"/>
              </a:lnSpc>
            </a:pPr>
            <a:r>
              <a:rPr lang="en-US" sz="5867" spc="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Mohand Mohamed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71030" y="1167092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14184"/>
                </a:solidFill>
                <a:latin typeface="Stinger Wide"/>
                <a:ea typeface="Stinger Wide"/>
                <a:cs typeface="Stinger Wide"/>
                <a:sym typeface="Stinger Wide"/>
              </a:rPr>
              <a:t>Our Team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1282" y="851670"/>
            <a:ext cx="10185436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DH Pa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rameters Chosen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03626" y="2967986"/>
            <a:ext cx="10609860" cy="7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•F</a:t>
            </a: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rames assigned from base to end‑effector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84003" y="3685951"/>
            <a:ext cx="8519995" cy="6230246"/>
          </a:xfrm>
          <a:custGeom>
            <a:avLst/>
            <a:gdLst/>
            <a:ahLst/>
            <a:cxnLst/>
            <a:rect r="r" b="b" t="t" l="l"/>
            <a:pathLst>
              <a:path h="6230246" w="8519995">
                <a:moveTo>
                  <a:pt x="0" y="0"/>
                </a:moveTo>
                <a:lnTo>
                  <a:pt x="8519994" y="0"/>
                </a:lnTo>
                <a:lnTo>
                  <a:pt x="8519994" y="6230247"/>
                </a:lnTo>
                <a:lnTo>
                  <a:pt x="0" y="6230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1282" y="851670"/>
            <a:ext cx="10185436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DH Pa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rameters Chosen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4326" y="3041576"/>
            <a:ext cx="12019348" cy="210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•Standard Denavit–Hartenberg convention used</a:t>
            </a:r>
          </a:p>
          <a:p>
            <a:pPr algn="just">
              <a:lnSpc>
                <a:spcPts val="5420"/>
              </a:lnSpc>
            </a:pPr>
          </a:p>
          <a:p>
            <a:pPr algn="just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•Parameters define link lengths and joint offsets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81798" y="5463967"/>
            <a:ext cx="11301259" cy="3390378"/>
          </a:xfrm>
          <a:custGeom>
            <a:avLst/>
            <a:gdLst/>
            <a:ahLst/>
            <a:cxnLst/>
            <a:rect r="r" b="b" t="t" l="l"/>
            <a:pathLst>
              <a:path h="3390378" w="11301259">
                <a:moveTo>
                  <a:pt x="0" y="0"/>
                </a:moveTo>
                <a:lnTo>
                  <a:pt x="11301259" y="0"/>
                </a:lnTo>
                <a:lnTo>
                  <a:pt x="11301259" y="3390378"/>
                </a:lnTo>
                <a:lnTo>
                  <a:pt x="0" y="33903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4628" y="1480536"/>
            <a:ext cx="10518744" cy="25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Forward Kin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ematics Validation</a:t>
            </a:r>
          </a:p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Python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84628" y="4449189"/>
            <a:ext cx="10518744" cy="4992768"/>
          </a:xfrm>
          <a:custGeom>
            <a:avLst/>
            <a:gdLst/>
            <a:ahLst/>
            <a:cxnLst/>
            <a:rect r="r" b="b" t="t" l="l"/>
            <a:pathLst>
              <a:path h="4992768" w="10518744">
                <a:moveTo>
                  <a:pt x="0" y="0"/>
                </a:moveTo>
                <a:lnTo>
                  <a:pt x="10518744" y="0"/>
                </a:lnTo>
                <a:lnTo>
                  <a:pt x="10518744" y="4992768"/>
                </a:lnTo>
                <a:lnTo>
                  <a:pt x="0" y="49927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6439" y="895792"/>
            <a:ext cx="10185436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Invers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 Kinematics Validation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18559" y="3261711"/>
            <a:ext cx="11421196" cy="596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•N</a:t>
            </a: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umerical IK solved using Newton–Raphson method</a:t>
            </a:r>
          </a:p>
          <a:p>
            <a:pPr algn="l">
              <a:lnSpc>
                <a:spcPts val="5420"/>
              </a:lnSpc>
            </a:pPr>
          </a:p>
          <a:p>
            <a:pPr algn="l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Compared mathematical solution with simulation results</a:t>
            </a:r>
          </a:p>
          <a:p>
            <a:pPr algn="l">
              <a:lnSpc>
                <a:spcPts val="5420"/>
              </a:lnSpc>
            </a:pPr>
          </a:p>
          <a:p>
            <a:pPr algn="l">
              <a:lnSpc>
                <a:spcPts val="5420"/>
              </a:lnSpc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•Small offset due to different EE reference points</a:t>
            </a:r>
          </a:p>
          <a:p>
            <a:pPr algn="l">
              <a:lnSpc>
                <a:spcPts val="33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3801" y="1274372"/>
            <a:ext cx="10185436" cy="25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Invers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 Kinematics Validation</a:t>
            </a:r>
          </a:p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Python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86596" y="4101555"/>
            <a:ext cx="14619845" cy="2598047"/>
          </a:xfrm>
          <a:custGeom>
            <a:avLst/>
            <a:gdLst/>
            <a:ahLst/>
            <a:cxnLst/>
            <a:rect r="r" b="b" t="t" l="l"/>
            <a:pathLst>
              <a:path h="2598047" w="14619845">
                <a:moveTo>
                  <a:pt x="0" y="0"/>
                </a:moveTo>
                <a:lnTo>
                  <a:pt x="14619845" y="0"/>
                </a:lnTo>
                <a:lnTo>
                  <a:pt x="14619845" y="2598047"/>
                </a:lnTo>
                <a:lnTo>
                  <a:pt x="0" y="2598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7" t="-10402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3801" y="1274372"/>
            <a:ext cx="10185436" cy="25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Invers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 Kinematics Validation</a:t>
            </a:r>
          </a:p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Matlab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8353" y="4713533"/>
            <a:ext cx="6473561" cy="2856459"/>
          </a:xfrm>
          <a:custGeom>
            <a:avLst/>
            <a:gdLst/>
            <a:ahLst/>
            <a:cxnLst/>
            <a:rect r="r" b="b" t="t" l="l"/>
            <a:pathLst>
              <a:path h="2856459" w="6473561">
                <a:moveTo>
                  <a:pt x="0" y="0"/>
                </a:moveTo>
                <a:lnTo>
                  <a:pt x="6473561" y="0"/>
                </a:lnTo>
                <a:lnTo>
                  <a:pt x="6473561" y="2856458"/>
                </a:lnTo>
                <a:lnTo>
                  <a:pt x="0" y="2856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81798" y="4317987"/>
            <a:ext cx="4610373" cy="3819040"/>
          </a:xfrm>
          <a:custGeom>
            <a:avLst/>
            <a:gdLst/>
            <a:ahLst/>
            <a:cxnLst/>
            <a:rect r="r" b="b" t="t" l="l"/>
            <a:pathLst>
              <a:path h="3819040" w="4610373">
                <a:moveTo>
                  <a:pt x="0" y="0"/>
                </a:moveTo>
                <a:lnTo>
                  <a:pt x="4610373" y="0"/>
                </a:lnTo>
                <a:lnTo>
                  <a:pt x="4610373" y="3819040"/>
                </a:lnTo>
                <a:lnTo>
                  <a:pt x="0" y="3819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3801" y="1274372"/>
            <a:ext cx="10185436" cy="25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Invers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 Kinematics Validation</a:t>
            </a:r>
          </a:p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Gazebo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1045" y="851669"/>
            <a:ext cx="10517519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T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rajectories in Gazebo &amp; Simscape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1798" y="3026893"/>
            <a:ext cx="13018833" cy="137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772" spc="4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•Trajectory 1: Planar surface coverage (wall sanitization)</a:t>
            </a:r>
          </a:p>
          <a:p>
            <a:pPr algn="l">
              <a:lnSpc>
                <a:spcPts val="528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97753" y="3799622"/>
            <a:ext cx="7292494" cy="6487378"/>
          </a:xfrm>
          <a:custGeom>
            <a:avLst/>
            <a:gdLst/>
            <a:ahLst/>
            <a:cxnLst/>
            <a:rect r="r" b="b" t="t" l="l"/>
            <a:pathLst>
              <a:path h="6487378" w="7292494">
                <a:moveTo>
                  <a:pt x="0" y="0"/>
                </a:moveTo>
                <a:lnTo>
                  <a:pt x="7292494" y="0"/>
                </a:lnTo>
                <a:lnTo>
                  <a:pt x="7292494" y="6487378"/>
                </a:lnTo>
                <a:lnTo>
                  <a:pt x="0" y="64873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1045" y="851669"/>
            <a:ext cx="10517519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T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rajectories in Gazebo &amp; Simscape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5988" y="3026893"/>
            <a:ext cx="13830453" cy="137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772" spc="4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•Trajectory 2: Curved motion around robot (barrel interior)</a:t>
            </a:r>
          </a:p>
          <a:p>
            <a:pPr algn="l">
              <a:lnSpc>
                <a:spcPts val="528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78716" y="3852354"/>
            <a:ext cx="8330569" cy="6434646"/>
          </a:xfrm>
          <a:custGeom>
            <a:avLst/>
            <a:gdLst/>
            <a:ahLst/>
            <a:cxnLst/>
            <a:rect r="r" b="b" t="t" l="l"/>
            <a:pathLst>
              <a:path h="6434646" w="8330569">
                <a:moveTo>
                  <a:pt x="0" y="0"/>
                </a:moveTo>
                <a:lnTo>
                  <a:pt x="8330568" y="0"/>
                </a:lnTo>
                <a:lnTo>
                  <a:pt x="8330568" y="6434646"/>
                </a:lnTo>
                <a:lnTo>
                  <a:pt x="0" y="64346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6955" y="1480536"/>
            <a:ext cx="11155750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Hardware T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rajectory Execution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6094" y="3732740"/>
            <a:ext cx="13337473" cy="41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Full trajectory successfully executed on real hardware</a:t>
            </a:r>
          </a:p>
          <a:p>
            <a:pPr algn="l">
              <a:lnSpc>
                <a:spcPts val="5420"/>
              </a:lnSpc>
            </a:pPr>
          </a:p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Motion matches simulated path within mechanical tolerances</a:t>
            </a:r>
          </a:p>
          <a:p>
            <a:pPr algn="l">
              <a:lnSpc>
                <a:spcPts val="54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789869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5264" y="3291903"/>
            <a:ext cx="13337473" cy="484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DH model accurately represents robot geometry</a:t>
            </a:r>
          </a:p>
          <a:p>
            <a:pPr algn="l">
              <a:lnSpc>
                <a:spcPts val="5420"/>
              </a:lnSpc>
            </a:pPr>
          </a:p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IK validated mathematically and in simulation</a:t>
            </a:r>
          </a:p>
          <a:p>
            <a:pPr algn="l">
              <a:lnSpc>
                <a:spcPts val="5420"/>
              </a:lnSpc>
            </a:pPr>
          </a:p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Trajectories successfully demonstrated virtuall</a:t>
            </a:r>
          </a:p>
          <a:p>
            <a:pPr algn="l">
              <a:lnSpc>
                <a:spcPts val="5420"/>
              </a:lnSpc>
            </a:pPr>
          </a:p>
          <a:p>
            <a:pPr algn="l" marL="835983" indent="-417992" lvl="1">
              <a:lnSpc>
                <a:spcPts val="5420"/>
              </a:lnSpc>
              <a:buFont typeface="Arial"/>
              <a:buChar char="•"/>
            </a:pPr>
            <a:r>
              <a:rPr lang="en-US" sz="3872" spc="4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Same trajectory applied to hardware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77908" y="2454217"/>
            <a:ext cx="7532183" cy="7532183"/>
          </a:xfrm>
          <a:custGeom>
            <a:avLst/>
            <a:gdLst/>
            <a:ahLst/>
            <a:cxnLst/>
            <a:rect r="r" b="b" t="t" l="l"/>
            <a:pathLst>
              <a:path h="7532183" w="7532183">
                <a:moveTo>
                  <a:pt x="0" y="0"/>
                </a:moveTo>
                <a:lnTo>
                  <a:pt x="7532184" y="0"/>
                </a:lnTo>
                <a:lnTo>
                  <a:pt x="7532184" y="7532183"/>
                </a:lnTo>
                <a:lnTo>
                  <a:pt x="0" y="75321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14184"/>
                </a:solidFill>
                <a:latin typeface="Stinger Wide"/>
                <a:ea typeface="Stinger Wide"/>
                <a:cs typeface="Stinger Wide"/>
                <a:sym typeface="Stinger Wide"/>
              </a:rPr>
              <a:t>Result Videos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02607" y="3061837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71653">
            <a:off x="6899607" y="-3050983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785" y="8078812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DAG7yEcWw-w</dc:identifier>
  <dcterms:modified xsi:type="dcterms:W3CDTF">2011-08-01T06:04:30Z</dcterms:modified>
  <cp:revision>1</cp:revision>
  <dc:title>EDPT1009 ROBOTICS</dc:title>
</cp:coreProperties>
</file>